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今天用 BACalc 這個仿 BA II Plus 的財務計算機當案例，示範怎麼把需求講清楚、怎麼拿 Excel 或計算機驗收 AI 做出來的結果、不對時怎麼請 AI 修正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封面（cover）：左側為課程名稱與講者，右上為 App 實際截圖，右下三個方塊是本案例的三個技術重點；出處列標示截圖日期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整門課分成十一步，從兩層 CLAUDE.md 開始，部署上 GitHub Pages、安裝到手機，最後一步把 App 擴充成工程、統計、會計三大頁；每一步完成都有一個 git tag，可以隨時切回參考答案；step7 Google Drive 同步是選用，作者沒有實測，所以沒有 tag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蛇形流程圖（flow diagram）列出 step0～step10；磚紅色方塊為選用步驟；下方文字說明讀圖順序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選這個案例有三個理由：第一，財務計算的答案很明確，可以拿 Excel 或 BA II Plus 對；第二，它是 Python 寫的引擎，卻能在瀏覽器裡用 MicroPython 執行；第三，它是離線可用的 PWA，手機裝起來就能用；最重要的原則是寧可報錯，也不給看起來正常的錯數字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三張卡片（cards）分別說明案例的三個特點；下方磚紅句是全課反覆出現的原則；0.23 MB 與 23 倍為 DEVLOG 記錄的實測值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這是 App 的實際畫面：輸入 30 年、年利率 6%、借 300,000，留 PMT 空白按計算，求出每月付 1,798.65，紅色「付出」代表負號；右邊是手機版，一欄往下排，底部有分頁列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左為桌面版截圖、中為手機版截圖（Playwright 驅動 Chrome 實際操作後擷取），右側為讀圖重點；數字與 Excel =PMT(0.06/12,360,300000) 一致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v0.2 把 App 分成工程、統計、會計三大頁：上方三個頁籤，左邊是這一頁的功能清單；這張是工程頁的科學計算機，sin 30 度等於 0.5；右邊是手機版，三個頁籤移到畫面底部，這部分在第十步示範怎麼請 AI 做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左為桌面版工程頁截圖、中為手機版截圖（Playwright 驅動 Chrome 實際操作後擷取），右側為三大頁的內容；sin(30)=0.50 與 Excel =SIN(RADIANS(30)) 一致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接下來每一步都用同一個格式下 Prompt：任務、介面、限制、驗收；不需要會寫程式，重點是把例題和標準答案寫進驗收，這樣 AI 做完就能馬上核對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四個方塊依序為四段式的四個段落，下方說明各段寫法；最後一句為本方法的重點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EMBA 版不需要自己寫程式：每一步先切到起點版本，也就是上一步做好的狀態，接著下這一步的 Prompt，再拿 Excel 或計算機對答案；對不上時，把例題和兩邊的數字一起貼給 AI，請它找原因並修正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四步流程圖為 EMBA 版的固定節奏；下方說明請 AI 修正時要附的資訊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CLAUDE.md 是寫給 AI 看的工作規則；第一層在自己的家目錄，放個人習慣，例如用繁體中文回答、不確定就說不確定；第二層在專案資料夾，放這個專案的規則，例如 MVC、不回假數字；本專案實際看到 AI 在安裝套件前停下來等同意，就是因為規則有寫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流程圖表示兩層 CLAUDE.md 與 AI 開工的關係；接下來兩頁是兩層的完整範本，可從 Prompt 卡複製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這是使用者層級的範本，只有五條：繁體中文、不確定就說、自己測試、大改動先給計畫、危險動作先問；這五條和專案無關，寫在家目錄，所有專案共用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深色框為 USER_CLAUDE_MD 範本原文（Consolas 14 pt，原文密集的例外）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這是專案層級的範本，固定五段；請注意重要規則那段：MVC、不回假數字、禁止 eval、engine 只能用 math 和 json，這些都是本專案實際踩過才寫進來的（第 1 頁，共 4 頁）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深色框為 PROJECT_CLAUDE_MD 範本原文，依段落分頁；step0 tag 的 CLAUDE.md 早於範本，段落不同，只當參考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這是專案層級的範本，固定五段；請注意重要規則那段：MVC、不回假數字、禁止 eval、engine 只能用 math 和 json，這些都是本專案實際踩過才寫進來的（第 2 頁，共 4 頁）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深色框為 PROJECT_CLAUDE_MD 範本原文，依段落分頁；step0 tag 的 CLAUDE.md 早於範本，段落不同，只當參考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這是專案層級的範本，固定五段；請注意重要規則那段：MVC、不回假數字、禁止 eval、engine 只能用 math 和 json，這些都是本專案實際踩過才寫進來的（第 3 頁，共 4 頁）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深色框為 PROJECT_CLAUDE_MD 範本原文，依段落分頁；step0 tag 的 CLAUDE.md 早於範本，段落不同，只當參考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這是專案層級的範本，固定五段；請注意重要規則那段：MVC、不回假數字、禁止 eval、engine 只能用 math 和 json，這些都是本專案實際踩過才寫進來的（第 4 頁，共 4 頁）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深色框為 PROJECT_CLAUDE_MD 範本原文，依段落分頁；step0 tag 的 CLAUDE.md 早於範本，段落不同，只當參考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第 0 步是「兩層 CLAUDE.md：先教 AI 規矩」；先切到起點版本 step0，再下這一步的 Prompt，然後用 3 項驗收對答案；預期看到的是：得到一份 CLAUDE.md；AI 能用白話說出「不回假數字」「要能用 Excel 對答案」「改完先測」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上方流程圖為本步驟的四個動作，副標註明 git tag；下方為目標與預期產出（磚紅字）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這是第 0 步實際使用的 Prompt；請注意【驗收】寫明了怎麼核對結果，AI 做完就能用 Excel、計算機或白話複述來確認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這一步用 3 個方法對答案；先用 Excel 公式算出標準答案，再看 App 顯示的數字是否一樣；BA II Plus 的按鍵是作者依記憶寫的，還沒有用實機驗證，上課時以 Excel 為準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條列為驗收操作與預期數字（附 Excel 公式）；下方磚紅字為通過條件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這些都是本專案實際踩過的坑，不是假設；例如第一條：規則沒寫清楚，AI 就會自己決定：本專案的程式曾把 24.5 期直接當成 24 期算，數字看起來完全正常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條列為實際踩過的坑；內容取自 teaching/prompts.py 的 pitfalls 欄位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第 1 步是「用 plan mode 先規劃再動手」；先切到起點版本 step0，再下這一步的 Prompt，然後用 3 項驗收對答案；預期看到的是：一份分步驟的計畫，每個功能都附 Excel 公式例題，並列出需要我做決定的事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上方流程圖為本步驟的四個動作，副標註明 git tag；下方為目標與預期產出（磚紅字）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這是第 1 步實際使用的 Prompt；請注意【驗收】寫明了怎麼核對結果，AI 做完就能用 Excel、計算機或白話複述來確認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這一步用 3 個方法對答案；先用 Excel 公式算出標準答案，再看 App 顯示的數字是否一樣；BA II Plus 的按鍵是作者依記憶寫的，還沒有用實機驗證，上課時以 Excel 為準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條列為驗收操作與預期數字（附 Excel 公式）；下方磚紅字為通過條件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這些都是本專案實際踩過的坑，不是假設；例如第一條：例題的 Excel 公式本身也可能寫錯：本專案統計迴歸有一題公式少了一層 EXP，程式算 1.4042、公式算 0.3395，對不上才發現是公式錯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條列為實際踩過的坑；內容取自 teaching/prompts.py 的 pitfalls 欄位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第 2 步是「TDD：TVM 貨幣時間價值引擎」；先切到起點版本 step1，再下這一步的 Prompt，然後用 3 項驗收對答案；預期看到的是：AI 回報每月付款 -1,798.65（負號代表付出），並說明測試全部通過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上方流程圖為本步驟的四個動作，副標註明 git tag；下方為目標與預期產出（磚紅字）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這是第 2 步實際使用的 Prompt；請注意【驗收】寫明了怎麼核對結果，AI 做完就能用 Excel、計算機或白話複述來確認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這一步用 3 個方法對答案；先用 Excel 公式算出標準答案，再看 App 顯示的數字是否一樣；BA II Plus 的按鍵是作者依記憶寫的，還沒有用實機驗證，上課時以 Excel 為準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條列為驗收操作與預期數字（附 Excel 公式）；下方磚紅字為通過條件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這是 TVM 引擎接上畫面後的實際結果：房貸例題求出每月付款 1,798.65，紅色付出代表負號，和 Excel 的 PMT 一樣是 -1,798.65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App 實際截圖（Playwright 驅動 Chrome，在 localhost:8765 實際輸入後擷取）；圖下為說明，旁邊或下方為讀圖重點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這些都是本專案實際踩過的坑，不是假設；例如第一條：PV 填 300,000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條列為實際踩過的坑；內容取自 teaching/prompts.py 的 pitfalls 欄位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第 3 步是「其他工作表引擎與突變測試」；先切到起點版本 step2，再下這一步的 Prompt，然後用 3 項驗收對答案；預期看到的是：NPV 282.77、IRR 11.52%，並提醒現金流有兩次正負號變化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上方流程圖為本步驟的四個動作，副標註明 git tag；下方為目標與預期產出（磚紅字）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這是第 3 步實際使用的 Prompt；請注意【驗收】寫明了怎麼核對結果，AI 做完就能用 Excel、計算機或白話複述來確認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這一步用 3 個方法對答案；先用 Excel 公式算出標準答案，再看 App 顯示的數字是否一樣；BA II Plus 的按鍵是作者依記憶寫的，還沒有用實機驗證，上課時以 Excel 為準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條列為驗收操作與預期數字（附 Excel 公式）；下方磚紅字為通過條件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左邊是攤還，第一年利息 -17,899.78，和 Excel CUMIPMT 一樣；右邊是現金流，NPV 282.77、IRR 11.52%，因為現金流正負號變了兩次，App 會提醒 IRR 可能有多個解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App 實際截圖（Playwright 驅動 Chrome，在 localhost:8765 實際輸入後擷取）；圖下為說明，旁邊或下方為讀圖重點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這些都是本專案實際踩過的坑，不是假設；例如第一條：全部是正的現金流沒有 IRR，App 要顯示「IRR 無解：現金流沒有正負號變化」而不是 0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條列為實際踩過的坑；內容取自 teaching/prompts.py 的 pitfalls 欄位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第 4 步是「PWA 殼與 MicroPython（Web Worker）橋接」；先切到起點版本 step3，再下這一步的 Prompt，然後用 4 項驗收對答案；預期看到的是：瀏覽器打開 App，狀態顯示就緒；自我測試頁全部通過；AI 說明 Pyodide 約 5.3 MB、MicroPython 約 0.23 MB，所以選 MicroPython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上方流程圖為本步驟的四個動作，副標註明 git tag；下方為目標與預期產出（磚紅字）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這是第 4 步實際使用的 Prompt；請注意【驗收】寫明了怎麼核對結果，AI 做完就能用 Excel、計算機或白話複述來確認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這一步用 4 個方法對答案；先用 Excel 公式算出標準答案，再看 App 顯示的數字是否一樣；BA II Plus 的按鍵是作者依記憶寫的，還沒有用實機驗證，上課時以 Excel 為準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條列為驗收操作與預期數字（附 Excel 公式）；下方磚紅字為通過條件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設定頁的「關於」區會顯示 MicroPython 版本與啟動時間；這次截圖時殼約 0.5 秒出現，Python 約 0.7 秒就緒，這是本機的數字，手機上會比較慢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App 實際截圖（Playwright 驅動 Chrome，在 localhost:8765 實際輸入後擷取）；圖下為說明，旁邊或下方為讀圖重點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這些都是本專案實際踩過的坑，不是假設；例如第一條：改了 App 重新整理還是舊畫面：這是瀏覽器把舊版存起來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條列為實際踩過的坑；內容取自 teaching/prompts.py 的 pitfalls 欄位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第 5 步是「人性化 UI：每張工作表的畫面」；先切到起點版本 step4，再下這一步的 Prompt，然後用 4 項驗收對答案；預期看到的是：每張工作表都能操作，錯誤時標紅該欄並說明原因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上方流程圖為本步驟的四個動作，副標註明 git tag；下方為目標與預期產出（磚紅字）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這是第 5 步實際使用的 Prompt；請注意【驗收】寫明了怎麼核對結果，AI 做完就能用 Excel、計算機或白話複述來確認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這一步用 4 個方法對答案；先用 Excel 公式算出標準答案，再看 App 顯示的數字是否一樣；BA II Plus 的按鍵是作者依記憶寫的，還沒有用實機驗證，上課時以 Excel 為準（第 1 頁，共 2 頁）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條列為驗收操作與預期數字（附 Excel 公式）；下方磚紅字為通過條件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這一步用 4 個方法對答案；先用 Excel 公式算出標準答案，再看 App 顯示的數字是否一樣；BA II Plus 的按鍵是作者依記憶寫的，還沒有用實機驗證，上課時以 Excel 為準（第 2 頁，共 2 頁）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條列為驗收操作與預期數字（附 Excel 公式）；下方磚紅字為通過條件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左邊是計算機與紙帶，每算一次就留一筆紀錄；右邊是手機版，一欄往下排、底部有分頁列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App 實際截圖（Playwright 驅動 Chrome，在 localhost:8765 實際輸入後擷取）；圖下為說明，旁邊或下方為讀圖重點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這些都是本專案實際踩過的坑，不是假設；例如第一條：說明裡的範例數字曾經是 AI 猜的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條列為實際踩過的坑；內容取自 teaching/prompts.py 的 pitfalls 欄位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第 6 步是「本機儲存與 JSON 匯出入」；先切到起點版本 step5，再下這一步的 Prompt，然後用 3 項驗收對答案；預期看到的是：匯出得到 bacalc-backup-日期.json；清空後匯入，所有值恢復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上方流程圖為本步驟的四個動作，副標註明 git tag；下方為目標與預期產出（磚紅字）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這是第 6 步實際使用的 Prompt；請注意【驗收】寫明了怎麼核對結果，AI 做完就能用 Excel、計算機或白話複述來確認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這一步用 3 個方法對答案；先用 Excel 公式算出標準答案，再看 App 顯示的數字是否一樣；BA II Plus 的按鍵是作者依記憶寫的，還沒有用實機驗證，上課時以 Excel 為準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條列為驗收操作與預期數字（附 Excel 公式）；下方磚紅字為通過條件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設定頁上方是匯出與匯入 JSON 的按鈕，匯入時可以選合併或取代；下方 Google Drive 同步預設是關閉的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App 實際截圖（Playwright 驅動 Chrome，在 localhost:8765 實際輸入後擷取）；圖下為說明，旁邊或下方為讀圖重點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這些都是本專案實際踩過的坑，不是假設；例如第一條：情境曾經只存上方欄位、沒存現金流表格，載入後新舊資料混在一起；驗收時要整頁比對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條列為實際踩過的坑；內容取自 teaching/prompts.py 的 pitfalls 欄位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這一步是選用，作者沒有用真的 Client ID 實測，所以沒有 tag，課堂上當延伸閱讀；第 7 步是「Google Drive 同步（選用，作者未實測）」；先切到起點版本 step6，再下這一步的 Prompt，然後用 2 項驗收對答案；預期看到的是：AI 說明在 Google Cloud Console 申請 OAuth Client ID（Google 發給這個 App 的識別碼）的步驟，以及只要求「App 專屬資料」權限；不想申請的人改用 JSON 匯出存到任何雲端資料夾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上方流程圖為本步驟的四個動作，副標註明 git tag；下方為目標與預期產出（磚紅字）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這是第 7 步實際使用的 Prompt；請注意【驗收】寫明了怎麼核對結果，AI 做完就能用 Excel、計算機或白話複述來確認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這一步用 2 個方法對答案；先用 Excel 公式算出標準答案，再看 App 顯示的數字是否一樣；BA II Plus 的按鍵是作者依記憶寫的，還沒有用實機驗證，上課時以 Excel 為準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條列為驗收操作與預期數字（附 Excel 公式）；下方磚紅字為通過條件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這些都是本專案實際踩過的坑，不是假設；例如第一條：作者沒有用真的 Client ID 實測過，這一步請當作延伸閱讀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條列為實際踩過的坑；內容取自 teaching/prompts.py 的 pitfalls 欄位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第 8 步是「自我驗證 Loop 寫成 Skill」；先切到起點版本 step6，再下這一步的 Prompt，然後用 4 項驗收對答案；預期看到的是：logs/verify-日期時間.html 顯示全部 PASS；故意改壞時對應項目 FAIL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上方流程圖為本步驟的四個動作，副標註明 git tag；下方為目標與預期產出（磚紅字）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這是第 8 步實際使用的 Prompt；請注意【驗收】寫明了怎麼核對結果，AI 做完就能用 Excel、計算機或白話複述來確認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這一步用 4 個方法對答案；先用 Excel 公式算出標準答案，再看 App 顯示的數字是否一樣；BA II Plus 的按鍵是作者依記憶寫的，還沒有用實機驗證，上課時以 Excel 為準（第 1 頁，共 2 頁）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條列為驗收操作與預期數字（附 Excel 公式）；下方磚紅字為通過條件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這一步用 4 個方法對答案；先用 Excel 公式算出標準答案，再看 App 顯示的數字是否一樣；BA II Plus 的按鍵是作者依記憶寫的，還沒有用實機驗證，上課時以 Excel 為準（第 2 頁，共 2 頁）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條列為驗收操作與預期數字（附 Excel 公式）；下方磚紅字為通過條件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這些都是本專案實際踩過的坑，不是假設；例如第一條：完整檢查約要 2 分多鐘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條列為實際踩過的坑；內容取自 teaching/prompts.py 的 pitfalls 欄位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第 9 步是「部署到 GitHub Pages、安裝到手機」；先切到起點版本 step8，再下這一步的 Prompt，然後用 4 項驗收對答案；預期看到的是：得到線上網址；手機安裝後，飛航模式仍可計算（作者尚未實機驗證，請自行測試）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上方流程圖為本步驟的四個動作，副標註明 git tag；下方為目標與預期產出（磚紅字）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這是第 9 步實際使用的 Prompt；請注意【驗收】寫明了怎麼核對結果，AI 做完就能用 Excel、計算機或白話複述來確認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這一步用 4 個方法對答案；先用 Excel 公式算出標準答案，再看 App 顯示的數字是否一樣；BA II Plus 的按鍵是作者依記憶寫的，還沒有用實機驗證，上課時以 Excel 為準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條列為驗收操作與預期數字（附 Excel 公式）；下方磚紅字為通過條件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這張是用瀏覽器模擬手機寬度的截圖，不是手機實機；手機安裝與飛航模式要由作者親自測過才打 step9 tag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左為手機寬度截圖（Playwright 以 375×812 行動裝置模擬），右為讀圖重點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這些都是本專案實際踩過的坑，不是假設；例如第一條：網址大小寫要完全一樣，打錯會出現 404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條列為實際踩過的坑；內容取自 teaching/prompts.py 的 pitfalls 欄位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第 10 步是「三大頁整合：工程與統計擴充」；先切到起點版本 v0.1.0，再下這一步的 Prompt，然後用 4 項驗收對答案；預期看到的是：三大頁、每頁有子選單；手機底部三分頁；舊情境仍可載入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上方流程圖為本步驟的四個動作，副標註明 git tag；下方為目標與預期產出（磚紅字）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這是第 10 步實際使用的 Prompt；請注意【驗收】寫明了怎麼核對結果，AI 做完就能用 Excel、計算機或白話複述來確認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這一步用 4 個方法對答案；先用 Excel 公式算出標準答案，再看 App 顯示的數字是否一樣；BA II Plus 的按鍵是作者依記憶寫的，還沒有用實機驗證，上課時以 Excel 為準（第 1 頁，共 2 頁）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條列為驗收操作與預期數字（附 Excel 公式）；下方磚紅字為通過條件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這一步用 4 個方法對答案；先用 Excel 公式算出標準答案，再看 App 顯示的數字是否一樣；BA II Plus 的按鍵是作者依記憶寫的，還沒有用實機驗證，上課時以 Excel 為準（第 2 頁，共 2 頁）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條列為驗收操作與預期數字（附 Excel 公式）；下方磚紅字為通過條件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左邊是機率分配，常態分配 1.96 的左尾機率是 0.975，和 Excel NORM.DIST 一樣，下面的圖用陰影標出面積；右邊是兩樣本 t 檢定，t 值 2、自由度 8、p 值 0.081，大於 0.05，所以不拒絕虛無假設；注意機率都顯示很多位，因為 0.046 和 0.054 四捨五入到兩位都是 0.05，結論卻相反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App 實際截圖（Playwright 驅動 Chrome，在 localhost:8765 實際輸入後擷取）；圖下為說明，旁邊或下方為讀圖重點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這些都是本專案實際踩過的坑，不是假設；例如第一條：Excel 的 T.DIST、CHISQ.DIST 會把 2.5 這種非整數自由度當成 2，App 依定義計算，兩者答案會不同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條列為實際踩過的坑；內容取自 teaching/prompts.py 的 pitfalls 欄位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最後總結：把需求講清楚、例題附標準答案、對不上就附數字請 AI 修正，這三件事不需要會寫程式；課後練習請挑一項做，參考資料都在 teaching/out 的 Prompt 卡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結論頁（closing）：上方深藍框為本課重點句，左為課後練習，右為參考資料，下方為下一步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.jp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.jp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jpg"/><Relationship Id="rId4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.jpg"/><Relationship Id="rId5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.jpg"/><Relationship Id="rId4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1.jpg"/><Relationship Id="rId5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.jpg"/><Relationship Id="rId4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jpg"/><Relationship Id="rId4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.jpg"/><Relationship Id="rId5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0120" y="1005840"/>
            <a:ext cx="5760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EMBA · 用 AI 做出自己的工具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417320"/>
            <a:ext cx="5852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BACalc 財務計算機</a:t>
            </a:r>
          </a:p>
          <a:p>
            <a:pPr algn="l">
              <a:spcAft>
                <a:spcPts val="200"/>
              </a:spcAft>
            </a:pPr>
            <a:r>
              <a:rPr sz="34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描述需求與驗收答案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779776"/>
            <a:ext cx="5669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11 個步驟，每步從參考版本接手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用 Excel 與 BA II Plus 對答案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4261104"/>
            <a:ext cx="1371600" cy="41148"/>
          </a:xfrm>
          <a:prstGeom prst="rect">
            <a:avLst/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923544" y="4553712"/>
            <a:ext cx="1106424" cy="1225296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4590288"/>
            <a:ext cx="1025593" cy="11521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40280" y="4754880"/>
            <a:ext cx="45720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田方治  FC Tien, Ph.D.</a:t>
            </a:r>
          </a:p>
          <a:p>
            <a:pPr algn="l">
              <a:spcAft>
                <a:spcPts val="300"/>
              </a:spcAft>
            </a:pPr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國立臺北科技大學 工業工程與管理系</a:t>
            </a:r>
          </a:p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iVi-Lab · 2026 秋</a:t>
            </a:r>
          </a:p>
        </p:txBody>
      </p:sp>
      <p:pic>
        <p:nvPicPr>
          <p:cNvPr id="11" name="Picture 10" descr="Taipei Tech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411480"/>
            <a:ext cx="960722" cy="566928"/>
          </a:xfrm>
          <a:prstGeom prst="rect">
            <a:avLst/>
          </a:prstGeom>
        </p:spPr>
      </p:pic>
      <p:pic>
        <p:nvPicPr>
          <p:cNvPr id="12" name="Picture 11" descr="tvm_resu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325880"/>
            <a:ext cx="4736592" cy="2664333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903720" y="4045076"/>
            <a:ext cx="4736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TVM 房貸：PMT 求出 1,798.65（付出）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4343400"/>
            <a:ext cx="1481328" cy="914400"/>
          </a:xfrm>
          <a:prstGeom prst="roundRect">
            <a:avLst>
              <a:gd name="adj" fmla="val 10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Python 引擎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engine/ 純計算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31352" y="4343400"/>
            <a:ext cx="1481328" cy="914400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MicroPython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WebAssembly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58984" y="4343400"/>
            <a:ext cx="1481328" cy="914400"/>
          </a:xfrm>
          <a:prstGeom prst="roundRect">
            <a:avLst>
              <a:gd name="adj" fmla="val 10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離線 PWA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手機電腦都能用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實際截圖（2026-10-29，本機 localhost:8765）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課程架構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十一個步驟與 git tag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每一步都有 Prompt、驗收方式與參考答案 tag（step0～step10）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1680972" cy="1024128"/>
          </a:xfrm>
          <a:prstGeom prst="roundRect">
            <a:avLst>
              <a:gd name="adj" fmla="val 10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step0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先教 AI 規矩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238756" y="2313432"/>
            <a:ext cx="182880" cy="219456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30780" y="1911095"/>
            <a:ext cx="1680972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step1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用 plan mode 先規劃再動手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20896" y="2313432"/>
            <a:ext cx="182880" cy="219456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12920" y="1911095"/>
            <a:ext cx="1680972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step2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TVM 貨幣時間價值引擎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003036" y="2313432"/>
            <a:ext cx="182880" cy="219456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95060" y="1911095"/>
            <a:ext cx="1680972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step3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其他工作表引擎與突變測試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885176" y="2313432"/>
            <a:ext cx="182880" cy="219456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77200" y="1911095"/>
            <a:ext cx="1680972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step4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PWA 殼與 MicroPython橋接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767316" y="2313432"/>
            <a:ext cx="182880" cy="219456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959340" y="1911095"/>
            <a:ext cx="1680972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step5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每張工作表的畫面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59340" y="3438144"/>
            <a:ext cx="1680972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step6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本機儲存與 JSON 匯出入</a:t>
            </a:r>
          </a:p>
        </p:txBody>
      </p:sp>
      <p:sp>
        <p:nvSpPr>
          <p:cNvPr id="17" name="Left Arrow 16"/>
          <p:cNvSpPr/>
          <p:nvPr/>
        </p:nvSpPr>
        <p:spPr>
          <a:xfrm>
            <a:off x="9767316" y="3840480"/>
            <a:ext cx="182880" cy="219456"/>
          </a:xfrm>
          <a:prstGeom prst="lef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77200" y="3438144"/>
            <a:ext cx="1680972" cy="1024128"/>
          </a:xfrm>
          <a:prstGeom prst="roundRect">
            <a:avLst>
              <a:gd name="adj" fmla="val 10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step7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Google Drive 同步（選用）</a:t>
            </a:r>
          </a:p>
        </p:txBody>
      </p:sp>
      <p:sp>
        <p:nvSpPr>
          <p:cNvPr id="19" name="Left Arrow 18"/>
          <p:cNvSpPr/>
          <p:nvPr/>
        </p:nvSpPr>
        <p:spPr>
          <a:xfrm>
            <a:off x="7885176" y="3840480"/>
            <a:ext cx="182880" cy="219456"/>
          </a:xfrm>
          <a:prstGeom prst="lef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95060" y="3438144"/>
            <a:ext cx="1680972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step8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自我驗證 Loop 寫成 Skill</a:t>
            </a:r>
          </a:p>
        </p:txBody>
      </p:sp>
      <p:sp>
        <p:nvSpPr>
          <p:cNvPr id="21" name="Left Arrow 20"/>
          <p:cNvSpPr/>
          <p:nvPr/>
        </p:nvSpPr>
        <p:spPr>
          <a:xfrm>
            <a:off x="6003036" y="3840480"/>
            <a:ext cx="182880" cy="219456"/>
          </a:xfrm>
          <a:prstGeom prst="lef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12920" y="3438144"/>
            <a:ext cx="1680972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step9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部署到 GitHub Pages、安裝到手機</a:t>
            </a:r>
          </a:p>
        </p:txBody>
      </p:sp>
      <p:sp>
        <p:nvSpPr>
          <p:cNvPr id="23" name="Left Arrow 22"/>
          <p:cNvSpPr/>
          <p:nvPr/>
        </p:nvSpPr>
        <p:spPr>
          <a:xfrm>
            <a:off x="4120896" y="3840480"/>
            <a:ext cx="182880" cy="219456"/>
          </a:xfrm>
          <a:prstGeom prst="lef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430780" y="3438144"/>
            <a:ext cx="1680972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step10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工程與統計擴充</a:t>
            </a:r>
          </a:p>
        </p:txBody>
      </p:sp>
      <p:sp>
        <p:nvSpPr>
          <p:cNvPr id="25" name="Left Arrow 24"/>
          <p:cNvSpPr/>
          <p:nvPr/>
        </p:nvSpPr>
        <p:spPr>
          <a:xfrm>
            <a:off x="2238756" y="3840480"/>
            <a:ext cx="182880" cy="219456"/>
          </a:xfrm>
          <a:prstGeom prst="lef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own Arrow 25"/>
          <p:cNvSpPr/>
          <p:nvPr/>
        </p:nvSpPr>
        <p:spPr>
          <a:xfrm>
            <a:off x="10662666" y="3008376"/>
            <a:ext cx="274320" cy="365760"/>
          </a:xfrm>
          <a:prstGeom prst="down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690872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上圖為十一個步驟的順序：上排由左而右，下排由右而左；磚紅色的 step7 為選用，作者未實測、沒有 tag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每一步做完都打一個 git tag，教材中的 Prompt 都是實際用過的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docs/spec-2026-10-19.md 5.2 節　·　teaching/prompts.py STEPS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 / 68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為什麼選這個案例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BACalc：仿 BA II Plus 的財務計算 PWA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答案可以用 Excel 與實體計算機核對，適合練習「怎麼驗收 AI 的產出」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65376"/>
            <a:ext cx="3581400" cy="2788920"/>
          </a:xfrm>
          <a:prstGeom prst="roundRect">
            <a:avLst>
              <a:gd name="adj" fmla="val 55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82880"/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三大頁 計算機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工程 · 統計 · 會計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會計頁仿 BA II Plus（TVM、攤還、現金流、債券、折舊），另有科學計算、機率分配與檢定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每題都有 Excel 公式當標準答案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03775" y="1865376"/>
            <a:ext cx="3581400" cy="2788920"/>
          </a:xfrm>
          <a:prstGeom prst="roundRect">
            <a:avLst>
              <a:gd name="adj" fmla="val 55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82880"/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Python 在瀏覽器執行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MicroPython＋WebAssembly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計算引擎是純 Python，在 Web Worker 背景載入，畫面先顯示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下載約 0.23 MB，比 Pyodide 小約 23 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58911" y="1865376"/>
            <a:ext cx="3581400" cy="2788920"/>
          </a:xfrm>
          <a:prstGeom prst="roundRect">
            <a:avLst>
              <a:gd name="adj" fmla="val 55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82880"/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離線可用的 PWA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Progressive Web App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純靜態檔、資料只存本機 IndexedDB，可安裝到手機主畫面（手機離線待實測）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部署在 GitHub Pages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8289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本案例的重點：算不出來就說原因，絕不顯示看起來正常但錯誤的數字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CLAUDE.md　·　README.md　·　DEVLOG 規格修訂（下載大小實測）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 / 68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為什麼選這個案例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App 實際畫面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桌面版左側選單、手機版單欄加底部分頁列</a:t>
            </a:r>
          </a:p>
        </p:txBody>
      </p:sp>
      <p:pic>
        <p:nvPicPr>
          <p:cNvPr id="5" name="Picture 4" descr="tvm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73936"/>
            <a:ext cx="6583680" cy="3703320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553212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TVM 房貸：PMT 求出 1,798.65（付出）</a:t>
            </a:r>
          </a:p>
        </p:txBody>
      </p:sp>
      <p:pic>
        <p:nvPicPr>
          <p:cNvPr id="7" name="Picture 6" descr="mobile_tv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773936"/>
            <a:ext cx="1689163" cy="3657600"/>
          </a:xfrm>
          <a:prstGeom prst="rect">
            <a:avLst/>
          </a:prstGeom>
          <a:ln>
            <a:solidFill>
              <a:srgbClr val="D8D4CC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406640" y="548640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手機版 375 px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1773936"/>
            <a:ext cx="222199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求出的格子以綠框標示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收到／付出用按鈕切換，和 TI 正負號一致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房貸 PMT = -1,798.65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實際截圖（2026-10-29，本機 localhost:8765）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ien 肖像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 / 68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為什麼選這個案例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v0.2：工程、統計、會計三大頁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頂端三個頁籤，左側是該頁的功能清單；手機版頁籤移到底部</a:t>
            </a:r>
          </a:p>
        </p:txBody>
      </p:sp>
      <p:pic>
        <p:nvPicPr>
          <p:cNvPr id="5" name="Picture 4" descr="eng_cal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73936"/>
            <a:ext cx="6583680" cy="3703320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553212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工程頁 科學計算機：sin(30) = 0.50（DEG）</a:t>
            </a:r>
          </a:p>
        </p:txBody>
      </p:sp>
      <p:pic>
        <p:nvPicPr>
          <p:cNvPr id="7" name="Picture 6" descr="mobile_na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773936"/>
            <a:ext cx="1689163" cy="3657600"/>
          </a:xfrm>
          <a:prstGeom prst="rect">
            <a:avLst/>
          </a:prstGeom>
          <a:ln>
            <a:solidFill>
              <a:srgbClr val="D8D4CC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406640" y="548640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手機版 375 px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1773936"/>
            <a:ext cx="222199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工程：科學計算、單位換算、進位轉換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統計：迴歸、敘述統計、機率分配、檢定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網址 #eng/calc 可加書籤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實際截圖（2026-10-29，本機 localhost:8765）　·　docs/CHANGELOG.md v0.2.0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ien 肖像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 / 68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四段式需求描述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用白話寫，也分成任務、介面、限制、驗收四段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【任務】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要做什麼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例如算房貸月付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【介面】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長什麼樣子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欄位名稱、按鈕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【限制】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不能怎樣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不能顯示假數字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【驗收】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怎麼對答案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Excel 或計算機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85615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上圖為四段式需求描述：不需要懂程式，只要講清楚要什麼、長什麼樣、不能怎樣、怎麼對答案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【驗收】寫出一題具體例題與標準答案，AI 做完就能立刻核對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答案對不上時，把例題、App 的數字與 Excel 的數字一起貼給 AI，請它修正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 說明（四段式 Prompt）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 / 68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每一步的進行方式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從參考版本接手，只做這一步的關鍵 Prompt 與驗收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切到起點版本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git checkout 起點 tag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下四段式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照 Prompt 卡複製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對答案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Excel 或 BA II Plus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請 AI 修正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附例題與兩邊數字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85615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 EMBA 版每一步的流程：起點版本（git tag）由助教或 AI 幫忙切換，學員專心在描述需求與驗收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對不上時不要只說「錯了」，要附上例題、App 顯示的數字、Excel 公式與結果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驗收通過才進下一步；每一步都可以切回參考版本重來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docs/spec-2026-10-19.md 5.1 節（EMBA 版）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7 / 68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兩層 CLAUDE.md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使用者層級與專案層級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AI 每次開工都會先讀 CLAUDE.md，規則寫一次就好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56816"/>
            <a:ext cx="3599688" cy="15544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第 1 層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使用者層級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~/.claude/CLAUDE.md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52900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94632" y="1956816"/>
            <a:ext cx="3599688" cy="15544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第 2 層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專案層級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專案根目錄 CLAUDE.md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898892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0624" y="1956816"/>
            <a:ext cx="3599688" cy="15544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開工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AI 先讀兩層規則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每次對話自動載入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85615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上圖為兩層規則的關係：使用者層級放個人通用習慣（所有專案共用），專案層級放這個專案特有、可以檢查的規則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專案層級不重複寫使用者層級的內容，一條規則一行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沒寫進 CLAUDE.md 的規則，AI 不會自己遵守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 USER_CLAUDE_MD、PROJECT_CLAUDE_MD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8 / 68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兩層 CLAUDE.md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使用者層級範本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~/.claude/CLAUDE.md，所有專案共用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255117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 我的通用規則（~/.claude/CLAUDE.md，所有專案共用）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回答用繁體中文，重要名詞附英文（例如 單元測試 unit test）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不確定就直接說「不確定」，不要編造；查資料要附連結與搜尋關鍵字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寫完程式要自己測試，貼出實際執行的指令與結果再回報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大改動先給我計畫，我同意後再動手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安裝套件、刪除檔案、推送 GitHub、關閉我開著的程式之前，先問我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 USER_CLAUDE_MD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9 / 68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兩層 CLAUDE.md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專案層級範本（1／4）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專案根目錄 CLAUDE.md：常用指令／專案結構／程式風格／工作方式／重要規則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4142232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 BACalc 專案規範（專案層級 CLAUDE.md）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仿 TI BA II Plus 的財務計算 PWA，Python 計算引擎在瀏覽器裡用 MicroPython 執行，手機電腦都能用、可離線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（下面的指令在後面的步驟才會建立，先寫下來讓 AI 知道目標）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## 常用指令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引擎測試：`python -m pytest -q`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可攜性檢查：`python tools/check_portable.py engine`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建置網頁：`python tools/build_web.py`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本機預覽：`python -m http.server 8765 -d web`，開 http://localhost:8765/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一鍵驗證：`python tools/verify_all.py`（產生 `logs/verify-*.html`）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 PROJECT_CLAUDE_MD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10 / 68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兩層 CLAUDE.md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專案層級範本（2／4）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專案根目錄 CLAUDE.md：常用指令／專案結構／程式風格／工作方式／重要規則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4142232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## 專案結構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Model：`engine/*.py`，純 Python 計算，沒有 I/O、不碰瀏覽器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Controller：`engine/bridge.py`（唯一入口）、`web/js/app.js`、`web/js/py-worker.js`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View：`web/index.html`、`web/css/`、`web/js/views/`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測試：`tests/`；golden 值：`tests/golden/excel.json`，每筆附 Excel 公式出處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## 程式風格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Python、PEP 8；註解用繁體中文，重要名詞附英文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金額用「分」整數（`engine/money.py`），日期用序數日（`engine/dates.py`）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 PROJECT_CLAUDE_MD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11 / 68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兩層 CLAUDE.md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專案層級範本（3／4）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專案根目錄 CLAUDE.md：常用指令／專案結構／程式風格／工作方式／重要規則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4142232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## 工作方式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先寫會失敗的測試，再寫程式（TDD），RED 與 GREEN 的輸出都要貼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改完先跑 `python -m pytest -q`，通過再回報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每次工作結束把過程追加到 `DEVLOG.md`：需求／做法／產出／驗證／問題與修正／待辦，只追加不改寫，失敗的嘗試也要寫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大改動先給計畫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## 重要規則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MVC 分層，計算只放在 Model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絕不產生看起來正常但錯誤的數字：算不出來回 `{"ok": false, "error": 中文原因}`，不用 0 或預設值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 PROJECT_CLAUDE_MD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12 / 68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兩層 CLAUDE.md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專案層級範本（4／4）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專案根目錄 CLAUDE.md：常用指令／專案結構／程式風格／工作方式／重要規則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127101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禁止 `eval`／`exec`（MicroPython 沒有 `ast`），算式用自寫遞迴下降剖析器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`engine/` 只能 import `math`、`json`（MicroPython 沒有 decimal、datetime、dataclasses）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golden 值對不上就停下來回報，不改 golden、不放寬容差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 PROJECT_CLAUDE_MD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13 / 68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0 · 兩層 CLAUDE.md：先教 AI 規矩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0　兩層 CLAUDE.md：先教 AI 規矩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起點 tag：step0　·　完成 tag：step0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切到起點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step0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白話四段式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對答案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3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請 AI 修正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附例題與數字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目標：使用者層級放個人通用習慣，專案層級放這個專案的規則，AI 每次開工都會先讀到，不用每次重講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預期產出：得到一份 CLAUDE.md；AI 能用白話說出「不回假數字」「要能用 Excel 對答案」「改完先測」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step0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14 / 68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0 · 兩層 CLAUDE.md：先教 AI 規矩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白話四段式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51129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我要做一個像 BA II Plus 的財務計算機 App，請先幫我寫一份工作規則檔 CLAUDE.md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規則檔放在專案資料夾最上層，分成：常用指令、專案結構、程式風格、工作方式、重要規則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算不出來時要說明原因，絕對不能顯示看起來正常但錯誤的數字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每個結果都要能拿 Excel 或計算機對得起來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每次改完要自己測試，再用白話告訴我測了什麼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寫完請用三句白話告訴我，你會遵守哪三條最重要的規則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step0 emba.prompt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15 / 68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0 · 兩層 CLAUDE.md：先教 AI 規矩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怎麼對答案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拿 Excel 或實體 BA II Plus 核對；按鍵依記憶撰寫者已標示未實機驗證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・打開 step0 的 CLAUDE.md，找到「絕不產生看起來正常但錯誤的數字」這一條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・先在 Excel 輸入 =PMT(0.06/12,360,300000)，得到 -1,798.65，記下這個房貸數字，之後每一步都用它當對照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・開新對話問 AI「如果期數算出 24.5 期，你會怎麼顯示」，答案應該是回報錯誤，而不是四捨五入成 24 或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3275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App、Excel、計算機三者一致才算通過；對不上就把三個數字一起貼給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step0 emba.verify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16 / 68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0 · 兩層 CLAUDE.md：先教 AI 規矩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・規則沒寫清楚，AI 就會自己決定：本專案的程式曾把 24.5 期直接當成 24 期算，數字看起來完全正常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・規則要寫成可以檢查的句子，例如「算不出來要說原因」，不要只寫「要正確」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step0 emba.pitfalls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17 / 68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 · 用 plan mode 先規劃再動手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1　用 plan mode 先規劃再動手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起點 tag：step0　·　完成 tag：step1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切到起點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step0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白話四段式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對答案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3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請 AI 修正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附例題與數字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目標：讓 AI 先寫規格書與實作計畫，確認 MVC、測試方式與每一步怎麼驗收，同意後才寫程式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預期產出：一份分步驟的計畫，每個功能都附 Excel 公式例題，並列出需要我做決定的事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18 / 68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 · 用 plan mode 先規劃再動手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白話四段式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51129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先不要寫程式，請先規劃這個計算機 App 要有哪些功能、分幾步做、每一步怎麼驗收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給我一份看得懂的計畫：每一步寫「做完會看到什麼」和「我要怎麼對答案」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功能以 BA II Plus 為準：貨幣時間價值、攤還、現金流、利率換算、統計、債券、折舊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每個功能至少 3 題可以用 Excel 對答案的例題，附 Excel 公式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你不確定的地方要直接說不確定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我會挑兩題例題自己在 Excel 算，數字要一樣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 emba.prompt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19 / 68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 · 用 plan mode 先規劃再動手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怎麼對答案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拿 Excel 或實體 BA II Plus 核對；按鍵依記憶撰寫者已標示未實機驗證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・Excel 輸入 =PMT(0.06/12,360,300000)，應得 -1,798.65（可能顯示成貨幣格式）（計畫中的房貸例題）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・Excel 輸入 =EFFECT(0.12,12)，應得 0.126825，也就是有效年利率 12.68%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・逐項對照計畫：每個功能都要有例題與 Excel 公式，缺的請 AI 補上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2465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App、Excel、計算機三者一致才算通過；對不上就把三個數字一起貼給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 emba.verify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20 / 68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 · 用 plan mode 先規劃再動手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・例題的 Excel 公式本身也可能寫錯：本專案統計迴歸有一題公式少了一層 EXP，程式算 1.4042、公式算 0.3395，對不上才發現是公式錯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・有些功能 Excel 沒有內建（例如回收期），這種例題要請 AI 列出逐期累計，以便手算核對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 emba.pitfalls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21 / 68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2 · TDD：TVM 貨幣時間價值引擎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2　TDD：TVM 貨幣時間價值引擎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起點 tag：step1　·　完成 tag：step2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切到起點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step1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白話四段式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對答案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3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請 AI 修正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附例題與數字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目標：先寫會失敗的測試再寫程式，用 Excel 公式當標準答案，做出可以同時在 CPython 與 MicroPython 執行的 TVM 引擎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預期產出：AI 回報每月付款 -1,798.65（負號代表付出），並說明測試全部通過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step2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22 / 68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2 · TDD：TVM 貨幣時間價值引擎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白話四段式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51129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請做出貨幣時間價值 TVM 的計算：期數、年利率、現值、每期付款、終值五格，空一格就算出那一格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欄位名稱和 BA II Plus 一樣：N、I/Y、PV、PMT、FV、P/Y、C/Y、期初 BGN／期末 END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收到的錢是正數、付出的錢是負數，和計算機一樣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算不出來時說明原因，不要給 0 或亂猜的數字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每個例題都要附 Excel 公式讓我自己對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房貸例題：30 年、年利率 6%、借 300,000、每月付款，告訴我每月付多少，並說明你怎麼測試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step2 emba.prompt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23 / 68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2 · TDD：TVM 貨幣時間價值引擎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怎麼對答案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拿 Excel 或實體 BA II Plus 核對；按鍵依記憶撰寫者已標示未實機驗證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・Excel 輸入 =PMT(0.06/12,360,300000)，應得 -1,798.65（可能顯示成貨幣格式）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・BA II Plus：[2ND][CLR TVM]，確認 [2ND][P/Y] 為 12 後 [2ND][QUIT]，360 [N]、6 [I/Y]、300000 [PV]、0 [FV]、[CPT][PMT]，應顯示 -1,798.65（按鍵依記憶撰寫，未實機驗證）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・Excel 輸入 =FV(0.03/12,60,-500,0,1)，應得 32,404.16（每月月初存 500、5 年、年利率 3%）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2465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App、Excel、計算機三者一致才算通過；對不上就把三個數字一起貼給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step2 emba.verify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24 / 68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2 · TDD：TVM 貨幣時間價值引擎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本機預覽伺服器上實際操作後擷取</a:t>
            </a:r>
          </a:p>
        </p:txBody>
      </p:sp>
      <p:pic>
        <p:nvPicPr>
          <p:cNvPr id="5" name="Picture 4" descr="tvm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73936"/>
            <a:ext cx="6583680" cy="3703320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553212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TVM 房貸：PMT 求出 1,798.65（付出）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773936"/>
            <a:ext cx="4233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N=360、I/Y=6、PV=300000、FV=0，PMT 留空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按「計算」求出 1,798.65（付出）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與 Excel =PMT(0.06/12,360,300000) 一致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實際截圖（2026-10-29，本機 localhost:8765）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ien 肖像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25 / 68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2 · TDD：TVM 貨幣時間價值引擎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・PV 填 300,000（收到）時 PMT 是負的，這是對的；本專案在畫面上加了「收到／付出」提示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・沒有答案的題目（借錢與還錢同號），程式初版曾回傳 -8.3 期這種沒意義的數字，後來改成直接報錯；看到奇怪的期數要請 AI 解釋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step2 emba.pitfalls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26 / 68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3 · 其他工作表引擎與突變測試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3　其他工作表引擎與突變測試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起點 tag：step2　·　完成 tag：step3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切到起點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step2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白話四段式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對答案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3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請 AI 修正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附例題與數字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目標：照 TVM 的 TDD 方式完成其餘工作表與 bridge，再用突變測試證明測試真的抓得到錯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預期產出：NPV 282.77、IRR 11.52%，並提醒現金流有兩次正負號變化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step3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27 / 68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3 · 其他工作表引擎與突變測試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白話四段式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51129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請加上現金流的計算：輸入期初投資與各期現金流，算出淨現值 NPV 與內部報酬率 IRR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輸入方式和 BA II Plus 一樣：CF0、C01、F01（次數）…，折現率 I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IRR 沒有答案時（例如現金流全是正的）要說明原因，不能顯示 0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現金流正負號變化不只一次、可能有多個 IRR 時要提醒我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每個結果都附 Excel 公式讓我對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例題：期初投資 -10,000，之後四年 3,000、4,200、6,800、-1,500，折現率 10%，告訴我 NPV 和 IRR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step3 emba.prompt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28 / 68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3 · 其他工作表引擎與突變測試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怎麼對答案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拿 Excel 或實體 BA II Plus 核對；按鍵依記憶撰寫者已標示未實機驗證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・Excel 輸入 =-10000+NPV(0.1,3000,4200,6800,-1500)，應得 282.77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・Excel 輸入 =IRR({-10000,3000,4200,6800,-1500})，儲存格設成百分比 2 位小數，應得 11.52%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・BA II Plus：[CF][2ND][CLR WORK]，CF0 輸入 10000 [+|-] [ENTER]，[↓] C01=3000 [ENTER] [↓] F01=1，同樣輸入 C02=4200、C03=6800、C04=1500 [+|-]，[NPV] I=10 [ENTER] [↓][CPT] 應得 282.77；[IRR][CPT] 應得 11.52（按鍵依記憶撰寫，未實機驗證）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3275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App、Excel、計算機三者一致才算通過；對不上就把三個數字一起貼給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step3 emba.verify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29 / 68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3 · 其他工作表引擎與突變測試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本機預覽伺服器上實際操作後擷取</a:t>
            </a:r>
          </a:p>
        </p:txBody>
      </p:sp>
      <p:pic>
        <p:nvPicPr>
          <p:cNvPr id="5" name="Picture 4" descr="amort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367" y="1773936"/>
            <a:ext cx="4800600" cy="2700338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1112367" y="4529138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攤還 AMORT：INT -17,899.78 與攤還表</a:t>
            </a:r>
          </a:p>
        </p:txBody>
      </p:sp>
      <p:pic>
        <p:nvPicPr>
          <p:cNvPr id="7" name="Picture 6" descr="cf_ir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7" y="1773936"/>
            <a:ext cx="4800600" cy="2700338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278727" y="4529138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現金流 CF：NPV 282.77、IRR 11.52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85754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攤還第 1～12 期利息 -17,899.78（=CUMIPMT）；現金流 NPV 282.77、IRR 11.52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IRR 有兩次正負號變化時，App 會提醒可能有多個解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實際截圖（2026-10-29，本機 localhost:8765）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ien 肖像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30 / 68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3 · 其他工作表引擎與突變測試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・全部是正的現金流沒有 IRR，App 要顯示「IRR 無解：現金流沒有正負號變化」而不是 0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・回收期在期初沒有投資時，程式初版回傳 0.0 看似合理，後來改成報錯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・Excel 沒有內建回收期函式，這題要請 AI 列出逐期累計現金流，以便手算核對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step3 emba.pitfalls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31 / 68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4 · PWA 殼與 MicroPython（Web Worker）橋接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4　PWA 殼與 MicroPython（Web Worker）橋接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起點 tag：step3　·　完成 tag：step4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切到起點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step3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白話四段式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對答案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4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請 AI 修正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附例題與數字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目標：先用 spike 證明 MicroPython 是雙精度，再讓畫面先顯示、Python 在背景載入，離線也能用；同一份 golden 在 MicroPython 也要全綠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預期產出：瀏覽器打開 App，狀態顯示就緒；自我測試頁全部通過；AI 說明 Pyodide 約 5.3 MB、MicroPython 約 0.23 MB，所以選 MicroPython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step4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32 / 68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4 · PWA 殼與 MicroPython（Web Worker）橋接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白話四段式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51129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請把計算機做成手機也能用的網頁 App：打開就先看到畫面，計算功能在背景準備，沒網路也能用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畫面上方顯示「載入中／就緒」；另外做一個自我測試頁，把所有例題重算一次，顯示通過或失敗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選手機載入比較快的方案，告訴我兩種方案的下載大小與資料來源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要安裝任何東西前先問我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還沒準備好就按計算，不能出錯，要等準備好自動算出來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請幫我把 App 在電腦上開起來，告訴我網址，我要自己試算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step4 emba.prompt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33 / 68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4 · PWA 殼與 MicroPython（Web Worker）橋接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怎麼對答案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拿 Excel 或實體 BA II Plus 核對；按鍵依記憶撰寫者已標示未實機驗證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・打開自我測試頁 selftest.html，每一題都應顯示 PASS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・App 利率換算：名目利率 12、每年複利 12 次，有效利率應為 12.68；Excel =EFFECT(0.12,12) 得 0.126825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・BA II Plus：[2ND][ICONV]，NOM=12 [ENTER]，[↓][↓] C/Y=12 [ENTER]，[↑] 到 EFF 按 [CPT]，應得 12.68（按鍵依記憶撰寫，未實機驗證）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・請 AI 停掉伺服器（模擬沒網路）後重新整理，畫面仍在、仍能算出 12.68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603495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App、Excel、計算機三者一致才算通過；對不上就把三個數字一起貼給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step4 emba.verify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34 / 68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4 · PWA 殼與 MicroPython（Web Worker）橋接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本機預覽伺服器上實際操作後擷取</a:t>
            </a:r>
          </a:p>
        </p:txBody>
      </p:sp>
      <p:pic>
        <p:nvPicPr>
          <p:cNvPr id="5" name="Picture 4" descr="settings_ab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73936"/>
            <a:ext cx="6583680" cy="3703320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553212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設定頁「關於」：MicroPython 版本與啟動時間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773936"/>
            <a:ext cx="4233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MicroPython 套件 1.29.0-6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殼顯示約 0.5 秒、Python 就緒約 0.7 秒（本機）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數字隨機器而異，以實際畫面為準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實際截圖（2026-10-29，本機 localhost:8765）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ien 肖像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35 / 68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4 · PWA 殼與 MicroPython（Web Worker）橋接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・改了 App 重新整理還是舊畫面：這是瀏覽器把舊版存起來（快取）造成的，本專案開發時遇過多次，要請 AI 做好自動更新，不是叫使用者一直清快取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・AI 第一次安裝套件時裝錯資料夾（裝到上一層），原因是專案資料夾還沒有套件清單檔 package.json；安裝前要請 AI 先確認專案資料夾裡有 package.json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step4 emba.pitfalls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36 / 68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5 · 人性化 UI：每張工作表的畫面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5　人性化 UI：每張工作表的畫面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起點 tag：step4　·　完成 tag：step5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切到起點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step4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白話四段式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對答案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4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請 AI 修正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附例題與數字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目標：手機與電腦都好操作：留一格空白就算、錯誤標出欄位、說明附真實範例、表格可匯出 CSV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預期產出：每張工作表都能操作，錯誤時標紅該欄並說明原因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step5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37 / 68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5 · 人性化 UI：每張工作表的畫面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白話四段式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83133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請把每個功能的畫面做得好用：欄位旁有說明和範例，算出來的格子要標出來，錯誤要指出是哪一格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手機上一欄一欄往下排、下方有分頁；電腦左邊是選單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攤還表、折舊表可以下載成 Excel 能開的 CSV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說明裡的範例數字必須是 App 真的算出來的，不能用猜的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下載的 CSV 數字要能在 Excel 直接加總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輸入 5 或 5% 都當成 5%；可以打千分位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我會用三題例題在 App 上操作，數字要和 Excel 一樣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step5 emba.prompt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38 / 68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5 · 人性化 UI：每張工作表的畫面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怎麼對答案（1／2）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拿 Excel 或實體 BA II Plus 核對；按鍵依記憶撰寫者已標示未實機驗證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・App 攤還：房貸例題 P1=1、P2=12，利息 INT 應為 -17,899.78；Excel =CUMIPMT(0.005,360,300000,1,12,0) 得 -17,899.78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・BA II Plus：做完 TVM 房貸後 [2ND][AMORT]，P1=1 [ENTER] [↓] P2=12 [ENTER]，[↓] BAL=296,315.96、[↓] PRN=-3,684.04、[↓] INT=-17,899.78（按鍵依記憶撰寫，未實機驗證）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・App 債券：交割日 2026-06-12、到期日 2036-01-01、票面 7%、殖利率 8%、半年付息、ACT，價格應為 93.40；Excel =PRICE(DATE(2026,6,12),DATE(2036,1,1),0.07,0.08,100,2,1) 得 93.40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01895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App、Excel、計算機三者一致才算通過；對不上就把三個數字一起貼給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step5 emba.verify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39 / 68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5 · 人性化 UI：每張工作表的畫面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怎麼對答案（2／2）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拿 Excel 或實體 BA II Plus 核對；按鍵依記憶撰寫者已標示未實機驗證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・下載攤還表 CSV 用 Excel 開啟，數字欄可以直接 =SUM，不會變成文字（儲存格左上角沒有綠色三角形）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4215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App、Excel、計算機三者一致才算通過；對不上就把三個數字一起貼給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step5 emba.verify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40 / 68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5 · 人性化 UI：每張工作表的畫面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本機預覽伺服器上實際操作後擷取</a:t>
            </a:r>
          </a:p>
        </p:txBody>
      </p:sp>
      <p:pic>
        <p:nvPicPr>
          <p:cNvPr id="5" name="Picture 4" descr="calc_t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367" y="1773936"/>
            <a:ext cx="4800600" cy="2700338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1112367" y="4529138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計算機 CALC：算式與紙帶 Tape</a:t>
            </a:r>
          </a:p>
        </p:txBody>
      </p:sp>
      <p:pic>
        <p:nvPicPr>
          <p:cNvPr id="7" name="Picture 6" descr="mobile_tv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7" y="1773936"/>
            <a:ext cx="1247077" cy="2700337"/>
          </a:xfrm>
          <a:prstGeom prst="rect">
            <a:avLst/>
          </a:prstGeom>
          <a:ln>
            <a:solidFill>
              <a:srgbClr val="D8D4CC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278727" y="452913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手機版 375 px：單欄與底部分頁列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85754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計算機的每一筆算式都進紙帶 Tape，點一下可帶回輸入框；手機版改成單欄與底部分頁列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說明裡的範例數字都由引擎實際算出，用測試鎖住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實際截圖（2026-10-29，本機 localhost:8765）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ien 肖像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41 / 68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5 · 人性化 UI：每張工作表的畫面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・說明裡的範例數字曾經是 AI 猜的（IRR 寫 13.7，實際 13.78），所以要求「範例必須真的算出來」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・CSV 曾經匯出畫面上帶千分位的文字，Excel 不能加總，後來改成純數字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・設定成歐洲數字格式時小數點是逗號（599,55），打 599.55 會被判格式錯誤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step5 emba.pitfalls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42 / 68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6 · 本機儲存與 JSON 匯出入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6　本機儲存與 JSON 匯出入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起點 tag：step5　·　完成 tag：step6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切到起點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step5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白話四段式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對答案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3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請 AI 修正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附例題與數字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目標：設定、紙帶、記憶、情境存在手機本機（IndexedDB），可匯出 JSON 備份並匯入還原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預期產出：匯出得到 bacalc-backup-日期.json；清空後匯入，所有值恢復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step6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43 / 68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6 · 本機儲存與 JSON 匯出入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白話四段式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19125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請讓 App 記住我的資料：關掉再打開，設定、計算紀錄、記憶值都還在；還要能匯出備份檔、再匯入回來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設定頁有「匯出 JSON」和「匯入 JSON」兩個按鈕（JSON 是一種純文字的備份檔格式）；匯入時讓我選「取代」或「合併」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資料只存在我的裝置，不上傳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匯入壞掉的檔案時要告訴我哪裡不對，不能弄壞現有資料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我會匯出、清空、再匯入，檢查數字一樣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step6 emba.prompt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44 / 68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6 · 本機儲存與 JSON 匯出入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怎麼對答案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拿 Excel 或實體 BA II Plus 核對；按鍵依記憶撰寫者已標示未實機驗證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・TVM 算出房貸 PMT -1,798.65 後存成情境，匯出 JSON、清空資料、再匯入，載入情境應仍是 -1,798.65（Excel 輸入 =PMT(0.06/12,360,300000)，應得 -1,798.65（可能顯示成貨幣格式））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・記憶 M1 存 1798.65，關掉瀏覽器再打開，M1 仍為 1,798.65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・用記事本把備份檔改壞（刪掉一個大括號）再匯入，應出現中文錯誤原因，原有資料不變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2465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App、Excel、計算機三者一致才算通過；對不上就把三個數字一起貼給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step6 emba.verify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45 / 68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6 · 本機儲存與 JSON 匯出入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本機預覽伺服器上實際操作後擷取</a:t>
            </a:r>
          </a:p>
        </p:txBody>
      </p:sp>
      <p:pic>
        <p:nvPicPr>
          <p:cNvPr id="5" name="Picture 4" descr="settings_ab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73936"/>
            <a:ext cx="6583680" cy="3703320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553212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設定頁「關於」：MicroPython 版本與啟動時間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773936"/>
            <a:ext cx="4233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設定頁的匯出 JSON、匯入 JSON（合併／取代）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Google Drive 同步區預設關閉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資料只存在本機 IndexedDB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實際截圖（2026-10-29，本機 localhost:8765）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ien 肖像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46 / 68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6 · 本機儲存與 JSON 匯出入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・情境曾經只存上方欄位、沒存現金流表格，載入後新舊資料混在一起；驗收時要整頁比對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・同一份備份匯入兩次，紙帶紀錄曾經變兩倍，後來合併時會去掉重複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step6 emba.pitfalls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47 / 68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7 · Google Drive 同步（選用，作者未實測）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7　Google Drive 同步（選用，作者未實測）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起點 tag：step6　·　完成 tag：沒有（選用，作者未實測）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切到起點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step6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白話四段式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對答案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2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請 AI 修正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附例題與數字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目標：使用者自己申請 OAuth Client ID 後，可把備份手動上傳到 Drive 的 App 專屬資料夾；預設關閉；選用，作者未實測，沒有 step7 tag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預期產出：AI 說明在 Google Cloud Console 申請 OAuth Client ID（Google 發給這個 App 的識別碼）的步驟，以及只要求「App 專屬資料」權限；不想申請的人改用 JSON 匯出存到任何雲端資料夾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step7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48 / 68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7 · Google Drive 同步（選用，作者未實測）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白話四段式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19125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（選用）如果我想把備份放到 Google Drive，請說明要做哪些設定，並讓 App 可以手動上傳和下載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設定頁有「Google Drive 同步」區塊，預設關閉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只能存取這個 App 自己的資料夾，看不到我其他檔案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雲端和手機上的資料不一樣時，先問我要用哪一份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用白話告訴我申請步驟，以及授權時會要求哪些權限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step7 emba.prompt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49 / 68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7 · Google Drive 同步（選用，作者未實測）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怎麼對答案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拿 Excel 或實體 BA II Plus 核對；按鍵依記憶撰寫者已標示未實機驗證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・照 docs/google-oauth-setup.html 核對 AI 的說明：授權畫面只應要求 App 專屬資料的權限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・上傳後在另一台裝置下載，TVM 情境的 PMT 仍為 -1,798.65（Excel 輸入 =PMT(0.06/12,360,300000)，應得 -1,798.65（可能顯示成貨幣格式））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344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App、Excel、計算機三者一致才算通過；對不上就把三個數字一起貼給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step7 emba.verify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50 / 68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7 · Google Drive 同步（選用，作者未實測）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・作者沒有用真的 Client ID 實測過，這一步請當作延伸閱讀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・曾經只看時間判斷有沒有改，改了記憶值卻被當成沒改，後來改成比對內容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step7 emba.pitfalls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51 / 68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8 · 自我驗證 Loop 寫成 Skill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8　自我驗證 Loop 寫成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起點 tag：step6　·　完成 tag：step8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切到起點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step6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白話四段式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對答案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4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請 AI 修正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附例題與數字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目標：一個指令跑完全部驗證並產生 HTML log，再寫成 Skill，讓 AI 每次改完都自己跑「改、驗、讀 log、修」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預期產出：logs/verify-日期時間.html 顯示全部 PASS；故意改壞時對應項目 FAIL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step8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52 / 68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8 · 自我驗證 Loop 寫成 Skill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白話四段式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51129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請做一個「一鍵檢查」：一個指令把所有測試跑完，產生我看得懂的報告網頁，並把這個流程存成你以後會自動使用的技能 Skill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報告放在 logs 資料夾，最上面寫總結：全部通過，或哪一項失敗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測試沒過時只能修程式，不能改答案或放寬標準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報告要記錄這是哪一個版本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跑一次給我看報告；再故意改壞一個公式跑一次，讓我看到失敗的樣子，然後還原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step8 emba.prompt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53 / 68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8 · 自我驗證 Loop 寫成 Skill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怎麼對答案（1／2）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拿 Excel 或實體 BA II Plus 核對；按鍵依記憶撰寫者已標示未實機驗證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・打開 logs 資料夾裡最新的報告，總結應為全部 PASS，並寫著這次檢查的版本編號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・App 折舊：成本 10,000、殘值 1,000、5 年直線法，第 1 年折舊 1,800.00；Excel =SLN(10000,1000,5) 得 1,800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・同一題第 2 年改用 200% 定率遞減，App 應得 2,400.00；Excel =DDB(10000,1000,5,2,2) 得 2,400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3275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App、Excel、計算機三者一致才算通過；對不上就把三個數字一起貼給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step8 emba.verify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54 / 68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8 · 自我驗證 Loop 寫成 Skill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怎麼對答案（2／2）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拿 Excel 或實體 BA II Plus 核對；按鍵依記憶撰寫者已標示未實機驗證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・BA II Plus：[2ND][DEPR] 選 SL，用 [↓] 找到各欄輸入 LIF=5、M01=1、CST=10000、SAL=1000、YR=1，再找到 DEP 應為 1,800（欄位順序推測為 LIF、M01、CST、SAL、YR、DEP、RBV、RDV；按鍵依記憶撰寫，未實機驗證）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328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App、Excel、計算機三者一致才算通過；對不上就把三個數字一起貼給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step8 emba.verify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55 / 68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8 · 自我驗證 Loop 寫成 Skill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・完整檢查約要 2 分多鐘（最慢的一項是「故意改壞公式，確認測試抓得到」），要等它跑完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・故意改壞一個公式時不只一項會失敗（網頁版也跟著不一致），這是正常的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step8 emba.pitfalls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56 / 68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9 · 部署到 GitHub Pages、安裝到手機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9　部署到 GitHub Pages、安裝到手機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起點 tag：step8　·　完成 tag：step9（此 tag 尚未建立，作者完成實測後才會打）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切到起點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step8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白話四段式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對答案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4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請 AI 修正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附例題與數字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目標：push 到 main 時自動測試，全過才部署；手機安裝成 App（離線只在電腦版瀏覽器驗證過，手機實機待作者實測）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預期產出：得到線上網址；手機安裝後，飛航模式仍可計算（作者尚未實機驗證，請自行測試）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step9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57 / 68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9 · 部署到 GitHub Pages、安裝到手機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白話四段式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19125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請把 App 放到網路上，讓我用手機打開並安裝到主畫面，沒網路時也能用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給我一個網址；說明文件寫 Android 與 iPhone 的安裝步驟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上傳到 GitHub 之前先問我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每次更新都要先自動測試，通過才上線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我會在手機安裝，開飛航模式算一題房貸和一題 NPV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step9 emba.prompt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58 / 68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9 · 部署到 GitHub Pages、安裝到手機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怎麼對答案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拿 Excel 或實體 BA II Plus 核對；按鍵依記憶撰寫者已標示未實機驗證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・手機開 https://fctien.github.io/Statistics-Accouting-Calculator/ ，Android 用 Chrome 選單「安裝應用程式」，iPhone 用 Safari 分享鈕「加入主畫面」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・開飛航模式，TVM 房貸 PMT 應為 -1,798.65（Excel 輸入 =PMT(0.06/12,360,300000)，應得 -1,798.65（可能顯示成貨幣格式））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・飛航模式下 CF：-10000、3000、4200、6800、-1500、I=10，NPV 應為 282.77（Excel 輸入 =-10000+NPV(0.1,3000,4200,6800,-1500)，應得 282.77）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・用 BA II Plus 算同一題 NPV，App、Excel、計算機三者應一致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92115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App、Excel、計算機三者一致才算通過；對不上就把三個數字一起貼給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step9 emba.verify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59 / 68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9 · 部署到 GitHub Pages、安裝到手機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瀏覽器模擬手機寬度 375 px 後擷取</a:t>
            </a:r>
          </a:p>
        </p:txBody>
      </p:sp>
      <p:pic>
        <p:nvPicPr>
          <p:cNvPr id="5" name="Picture 4" descr="mobile_tv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73936"/>
            <a:ext cx="1731391" cy="3749039"/>
          </a:xfrm>
          <a:prstGeom prst="rect">
            <a:avLst/>
          </a:prstGeom>
          <a:ln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22960" y="556869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手機版 375 px：單欄與底部分頁列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2991" y="1773936"/>
            <a:ext cx="853732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手機寬度 375 px 的版面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安裝到主畫面後可離線使用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此圖為桌面瀏覽器模擬手機寬度，手機實機與飛航模式由作者另行實測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實際截圖（2026-10-29，本機 localhost:8765）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ien 肖像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60 / 68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9 · 部署到 GitHub Pages、安裝到手機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・網址大小寫要完全一樣，打錯會出現 404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・第一次打開要有網路，等畫面顯示 Python 就緒後再開飛航模式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・iPhone 建議用 Safari 的「加入主畫面」（作者未在 iPhone 實測）；太久沒開可能清掉本機資料，記得定期匯出備份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step9 emba.pitfalls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61 / 68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10 · 三大頁整合：工程與統計擴充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10　三大頁整合：工程與統計擴充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起點 tag：v0.1.0　·　完成 tag：step10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切到起點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v0.1.0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白話四段式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對答案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4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請 AI 修正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附例題與數字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目標：App 分成工程、統計、會計三大頁；工程加科學計算、單位換算、進位轉換，統計加敘述統計、機率分配、信賴區間與檢定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預期產出：三大頁、每頁有子選單；手機底部三分頁；舊情境仍可載入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step10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62 / 68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10 · 三大頁整合：工程與統計擴充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白話四段式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83133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把計算機分成三頁：工程、統計、會計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工程加科學計算、單位換算、進位轉換；統計加敘述統計、機率分配、信賴區間與檢定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手機底部三個分頁，電腦版上方三個分頁；原本的會計功能和存好的情境都要保留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先給我計畫，我同意再做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每個新功能都要附 Excel 公式當標準答案；Excel 和教科書答案不同時先問我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算不出來要說原因，不能顯示 0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我會用 Excel 對：1 英里換公里、常態分配 1.96 的累積機率、一組資料的四分位數、兩組資料的 t 檢定 p 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step10 emba.prompt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63 / 68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10 · 三大頁整合：工程與統計擴充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怎麼對答案（1／2）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拿 Excel 或實體 BA II Plus 核對；按鍵依記憶撰寫者已標示未實機驗證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・工程／單位換算：1 英里應為 1.609344 公里，預設顯示 2 位小數時為 1.61（Excel =CONVERT(1,"mi","km")）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・統計／機率分配：常態 μ=0、σ=1、x=1.96 的累積機率應為 0.9750（Excel =NORM.DIST(1.96,0,1,TRUE)）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・統計／敘述統計：2,4,4,4,5,5,7,9 的 Q1 應為 4、Q3 應為 5.5（Excel =QUARTILE.INC(…,1) 與 (…,3)）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01895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App、Excel、計算機三者一致才算通過；對不上就把三個數字一起貼給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step10 emba.verify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64 / 68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10 · 三大頁整合：工程與統計擴充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怎麼對答案（2／2）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拿 Excel 或實體 BA II Plus 核對；按鍵依記憶撰寫者已標示未實機驗證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・統計／檢定：23,25,28,30,27,26,24 與 20,22,21,25,23,19 合併變異數雙尾 t 檢定，p 應約 0.0050（Excel =T.TEST({23,25,28,30,27,26,24},{20,22,21,25,23,19},2,2)）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4215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App、Excel、計算機三者一致才算通過；對不上就把三個數字一起貼給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step10 emba.verify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65 / 68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10 · 三大頁整合：工程與統計擴充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本機預覽伺服器上實際操作後擷取</a:t>
            </a:r>
          </a:p>
        </p:txBody>
      </p:sp>
      <p:pic>
        <p:nvPicPr>
          <p:cNvPr id="5" name="Picture 4" descr="stat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367" y="1773936"/>
            <a:ext cx="4800600" cy="2700338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1112367" y="4529138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統計頁 機率分配：常態 P(X ≤ 1.96) = 0.975</a:t>
            </a:r>
          </a:p>
        </p:txBody>
      </p:sp>
      <p:pic>
        <p:nvPicPr>
          <p:cNvPr id="7" name="Picture 6" descr="stat_inf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7" y="1773936"/>
            <a:ext cx="4800600" cy="2700338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278727" y="4529138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統計頁 兩樣本 t 檢定：t = 2.00、p = 0.081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85754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常態 x = 1.96 左尾 0.975（=NORM.DIST）；t 檢定 t = 2.00、df = 8、p = 0.081，不拒絕 H0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機率與 p 值顯示 10 位有效數字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實際截圖（2026-10-29，本機 localhost:8765）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ien 肖像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66 / 68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10 · 三大頁整合：工程與統計擴充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・Excel 的 T.DIST、CHISQ.DIST 會把 2.5 這種非整數自由度當成 2，App 依定義計算，兩者答案會不同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・雙尾 α = 0.05 時，機率分配的反查輸入 p = 0.05（App 有提示），不是 0.025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・p 值要看多位小數：0.046 和 0.054 四捨五入到兩位都是 0.05，結論卻相反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・迴歸改了 X' 後「預測」被擋是 v0.2.0 的錯誤，v0.2.1 已修；遇到類似情況，附操作步驟與畫面請 AI 修正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step10 emba.pitfalls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67 / 68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本週結論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本週重點與課後練習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72768"/>
            <a:ext cx="11091672" cy="969264"/>
          </a:xfrm>
          <a:prstGeom prst="roundRect">
            <a:avLst>
              <a:gd name="adj" fmla="val 7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23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需求講清楚、例題附標準答案、對不上就附數字請 AI 修正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16352"/>
            <a:ext cx="5486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9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課後練習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用 Excel 核對房貸、NPV、常態分配與 t 檢定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手機安裝 App，試試離線能不能算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替自己工作上的計算寫一份四段式需求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816352"/>
            <a:ext cx="533095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9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參考資料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Prompt卡_EMBA.html（teaching/out/）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README.md 手機安裝步驟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Excel：PMT、NPV、IRR、PRICE、SLN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010912"/>
            <a:ext cx="11091672" cy="658368"/>
          </a:xfrm>
          <a:prstGeom prst="roundRect">
            <a:avLst>
              <a:gd name="adj" fmla="val 22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8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下一步：挑一個工作上常算的公式，請 AI 做成自己的小工具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68 / 68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·　docs/spec-2026-10-19.md 第 5 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